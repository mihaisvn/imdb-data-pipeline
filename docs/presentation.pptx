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Poppins Bold" charset="1" panose="00000800000000000000"/>
      <p:regular r:id="rId39"/>
    </p:embeddedFont>
    <p:embeddedFont>
      <p:font typeface="Poppins" charset="1" panose="0000050000000000000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>
                <a:alpha val="8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7707164">
            <a:off x="16294306" y="6543150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7" y="0"/>
                </a:lnTo>
                <a:lnTo>
                  <a:pt x="1454067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7707164">
            <a:off x="690351" y="-2189935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7" y="0"/>
                </a:lnTo>
                <a:lnTo>
                  <a:pt x="1454067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68951" y="3276600"/>
            <a:ext cx="13150098" cy="392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b="true" sz="15000" spc="-7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IMDB</a:t>
            </a:r>
          </a:p>
          <a:p>
            <a:pPr algn="ctr">
              <a:lnSpc>
                <a:spcPts val="14400"/>
              </a:lnSpc>
            </a:pPr>
            <a:r>
              <a:rPr lang="en-US" b="true" sz="15000" spc="-7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PIPELINE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93640" y="2481016"/>
            <a:ext cx="10002167" cy="38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8"/>
              </a:lnSpc>
            </a:pPr>
            <a:r>
              <a:rPr lang="en-US" sz="2192" spc="173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SAVIN MIHAI-ALEXANDRU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796931" y="2070506"/>
            <a:ext cx="7145922" cy="7187794"/>
            <a:chOff x="0" y="0"/>
            <a:chExt cx="1095669" cy="110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5669" cy="1102090"/>
            </a:xfrm>
            <a:custGeom>
              <a:avLst/>
              <a:gdLst/>
              <a:ahLst/>
              <a:cxnLst/>
              <a:rect r="r" b="b" t="t" l="l"/>
              <a:pathLst>
                <a:path h="1102090" w="1095669">
                  <a:moveTo>
                    <a:pt x="24918" y="0"/>
                  </a:moveTo>
                  <a:lnTo>
                    <a:pt x="1070751" y="0"/>
                  </a:lnTo>
                  <a:cubicBezTo>
                    <a:pt x="1084513" y="0"/>
                    <a:pt x="1095669" y="11156"/>
                    <a:pt x="1095669" y="24918"/>
                  </a:cubicBezTo>
                  <a:lnTo>
                    <a:pt x="1095669" y="1077171"/>
                  </a:lnTo>
                  <a:cubicBezTo>
                    <a:pt x="1095669" y="1090933"/>
                    <a:pt x="1084513" y="1102090"/>
                    <a:pt x="1070751" y="1102090"/>
                  </a:cubicBezTo>
                  <a:lnTo>
                    <a:pt x="24918" y="1102090"/>
                  </a:lnTo>
                  <a:cubicBezTo>
                    <a:pt x="18310" y="1102090"/>
                    <a:pt x="11971" y="1099464"/>
                    <a:pt x="7298" y="1094791"/>
                  </a:cubicBezTo>
                  <a:cubicBezTo>
                    <a:pt x="2625" y="1090118"/>
                    <a:pt x="0" y="1083780"/>
                    <a:pt x="0" y="1077171"/>
                  </a:cubicBezTo>
                  <a:lnTo>
                    <a:pt x="0" y="24918"/>
                  </a:lnTo>
                  <a:cubicBezTo>
                    <a:pt x="0" y="11156"/>
                    <a:pt x="11156" y="0"/>
                    <a:pt x="24918" y="0"/>
                  </a:cubicBezTo>
                  <a:close/>
                </a:path>
              </a:pathLst>
            </a:custGeom>
            <a:blipFill>
              <a:blip r:embed="rId5"/>
              <a:stretch>
                <a:fillRect l="-25439" t="0" r="-25439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8494952" y="3757974"/>
            <a:ext cx="8407106" cy="451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951" indent="-271976" lvl="1">
              <a:lnSpc>
                <a:spcPts val="3527"/>
              </a:lnSpc>
              <a:buFont typeface="Arial"/>
              <a:buChar char="•"/>
            </a:pPr>
            <a:r>
              <a:rPr lang="en-US" sz="2519" spc="3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AN AUTOMATED PIPELINE.</a:t>
            </a:r>
          </a:p>
          <a:p>
            <a:pPr algn="l">
              <a:lnSpc>
                <a:spcPts val="3527"/>
              </a:lnSpc>
            </a:pPr>
          </a:p>
          <a:p>
            <a:pPr algn="l" marL="543951" indent="-271976" lvl="1">
              <a:lnSpc>
                <a:spcPts val="3527"/>
              </a:lnSpc>
              <a:buFont typeface="Arial"/>
              <a:buChar char="•"/>
            </a:pPr>
            <a:r>
              <a:rPr lang="en-US" sz="2519" spc="3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EXTRACT RAW IMDB DATASETS -&gt; LOAD INTO A DATA WAREHOUSE -&gt; TRANSFORM INTO A QUERY-OPTIMIZED DIMENSIONAL MODEL.</a:t>
            </a:r>
          </a:p>
          <a:p>
            <a:pPr algn="l">
              <a:lnSpc>
                <a:spcPts val="3527"/>
              </a:lnSpc>
            </a:pPr>
          </a:p>
          <a:p>
            <a:pPr algn="l" marL="543951" indent="-271976" lvl="1">
              <a:lnSpc>
                <a:spcPts val="3527"/>
              </a:lnSpc>
              <a:buFont typeface="Arial"/>
              <a:buChar char="•"/>
            </a:pPr>
            <a:r>
              <a:rPr lang="en-US" sz="2519" spc="3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GOAL: ENABLE FAST, ACCURATE ANALYTICAL QUERIES FOR BUSINESS INTELLIGENCE.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81354" y="2184806"/>
            <a:ext cx="7940926" cy="120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19"/>
              </a:lnSpc>
              <a:spcBef>
                <a:spcPct val="0"/>
              </a:spcBef>
            </a:pPr>
            <a:r>
              <a:rPr lang="en-US" b="true" sz="8666" spc="-44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21013" y="3810281"/>
            <a:ext cx="7271668" cy="364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</a:p>
          <a:p>
            <a:pPr algn="l" marL="442230" indent="-221115" lvl="1">
              <a:lnSpc>
                <a:spcPts val="2867"/>
              </a:lnSpc>
              <a:buFont typeface="Arial"/>
              <a:buChar char="•"/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TITLE.BASICS: CORE METADATA (IDS, TYPE, RUNTIME, GENRES).</a:t>
            </a:r>
          </a:p>
          <a:p>
            <a:pPr algn="l">
              <a:lnSpc>
                <a:spcPts val="2867"/>
              </a:lnSpc>
            </a:pPr>
          </a:p>
          <a:p>
            <a:pPr algn="l" marL="442230" indent="-221115" lvl="1">
              <a:lnSpc>
                <a:spcPts val="2867"/>
              </a:lnSpc>
              <a:buFont typeface="Arial"/>
              <a:buChar char="•"/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TITLE.RATINGS: QUANTITATIVE METRICS (AVERAGE SCORE, VOTE COUNT).</a:t>
            </a:r>
          </a:p>
          <a:p>
            <a:pPr algn="l">
              <a:lnSpc>
                <a:spcPts val="2867"/>
              </a:lnSpc>
            </a:pPr>
          </a:p>
          <a:p>
            <a:pPr algn="l" marL="442230" indent="-221115" lvl="1">
              <a:lnSpc>
                <a:spcPts val="2867"/>
              </a:lnSpc>
              <a:buFont typeface="Arial"/>
              <a:buChar char="•"/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TITLE.AKAS &amp; TITLE.EPISODE: REGIONAL NAMES AND TV HIERARCHIES.</a:t>
            </a:r>
          </a:p>
          <a:p>
            <a:pPr algn="l">
              <a:lnSpc>
                <a:spcPts val="286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943044" y="1091919"/>
            <a:ext cx="8551400" cy="199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60"/>
              </a:lnSpc>
              <a:spcBef>
                <a:spcPct val="0"/>
              </a:spcBef>
            </a:pPr>
            <a:r>
              <a:rPr lang="en-US" b="true" sz="7666" spc="-39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RAW DATASET &amp; CHALLENGES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7707164">
            <a:off x="16294306" y="6543150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7" y="0"/>
                </a:lnTo>
                <a:lnTo>
                  <a:pt x="1454067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7707164">
            <a:off x="690351" y="-2189935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7" y="0"/>
                </a:lnTo>
                <a:lnTo>
                  <a:pt x="1454067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014237" y="3965908"/>
            <a:ext cx="6555784" cy="3277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</a:p>
          <a:p>
            <a:pPr algn="l" marL="442230" indent="-221115" lvl="1">
              <a:lnSpc>
                <a:spcPts val="2867"/>
              </a:lnSpc>
              <a:buFont typeface="Arial"/>
              <a:buChar char="•"/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NAME.BASICS: INDUSTRY PERSONNEL DETAILS (ACTORS, DIRECTORS, BIRTH YEARS).</a:t>
            </a:r>
          </a:p>
          <a:p>
            <a:pPr algn="l">
              <a:lnSpc>
                <a:spcPts val="2867"/>
              </a:lnSpc>
            </a:pPr>
          </a:p>
          <a:p>
            <a:pPr algn="l" marL="442230" indent="-221115" lvl="1">
              <a:lnSpc>
                <a:spcPts val="2867"/>
              </a:lnSpc>
              <a:buFont typeface="Arial"/>
              <a:buChar char="•"/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TITLE.PRINCIPALS &amp; TITLE.CREW: MAPS WHO WORKED ON WHAT, DETAILING SPECIFIC ROLES AND CHARACTERS PLAYED.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04609" y="3146300"/>
            <a:ext cx="9028271" cy="51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ource: 7 daily-updated, compressed .tsv.gz files.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4924" y="8085455"/>
            <a:ext cx="16036416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spc="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CHALLANGES:</a:t>
            </a:r>
          </a:p>
          <a:p>
            <a:pPr algn="ctr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LITERAL \N STRINGS INSTEAD OF STANDARD NULLS.</a:t>
            </a:r>
          </a:p>
          <a:p>
            <a:pPr algn="ctr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DENORMALIZED ARRAYS (E.G., COMMA-SEPARATED GENRES IN A SINGLE COLUMN).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7707164">
            <a:off x="16294306" y="6543150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7" y="0"/>
                </a:lnTo>
                <a:lnTo>
                  <a:pt x="1454067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7707164">
            <a:off x="690351" y="-2189935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7" y="0"/>
                </a:lnTo>
                <a:lnTo>
                  <a:pt x="1454067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1585581"/>
            <a:ext cx="18288000" cy="7303770"/>
          </a:xfrm>
          <a:custGeom>
            <a:avLst/>
            <a:gdLst/>
            <a:ahLst/>
            <a:cxnLst/>
            <a:rect r="r" b="b" t="t" l="l"/>
            <a:pathLst>
              <a:path h="7303770" w="18288000">
                <a:moveTo>
                  <a:pt x="0" y="0"/>
                </a:moveTo>
                <a:lnTo>
                  <a:pt x="18288000" y="0"/>
                </a:lnTo>
                <a:lnTo>
                  <a:pt x="18288000" y="7303770"/>
                </a:lnTo>
                <a:lnTo>
                  <a:pt x="0" y="73037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18325" y="2226535"/>
            <a:ext cx="11056449" cy="2214455"/>
            <a:chOff x="0" y="0"/>
            <a:chExt cx="2911987" cy="5832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11987" cy="583231"/>
            </a:xfrm>
            <a:custGeom>
              <a:avLst/>
              <a:gdLst/>
              <a:ahLst/>
              <a:cxnLst/>
              <a:rect r="r" b="b" t="t" l="l"/>
              <a:pathLst>
                <a:path h="583231" w="2911987">
                  <a:moveTo>
                    <a:pt x="22407" y="0"/>
                  </a:moveTo>
                  <a:lnTo>
                    <a:pt x="2889580" y="0"/>
                  </a:lnTo>
                  <a:cubicBezTo>
                    <a:pt x="2901955" y="0"/>
                    <a:pt x="2911987" y="10032"/>
                    <a:pt x="2911987" y="22407"/>
                  </a:cubicBezTo>
                  <a:lnTo>
                    <a:pt x="2911987" y="560824"/>
                  </a:lnTo>
                  <a:cubicBezTo>
                    <a:pt x="2911987" y="566767"/>
                    <a:pt x="2909626" y="572466"/>
                    <a:pt x="2905424" y="576668"/>
                  </a:cubicBezTo>
                  <a:cubicBezTo>
                    <a:pt x="2901222" y="580870"/>
                    <a:pt x="2895522" y="583231"/>
                    <a:pt x="2889580" y="583231"/>
                  </a:cubicBezTo>
                  <a:lnTo>
                    <a:pt x="22407" y="583231"/>
                  </a:lnTo>
                  <a:cubicBezTo>
                    <a:pt x="16464" y="583231"/>
                    <a:pt x="10765" y="580870"/>
                    <a:pt x="6563" y="576668"/>
                  </a:cubicBezTo>
                  <a:cubicBezTo>
                    <a:pt x="2361" y="572466"/>
                    <a:pt x="0" y="566767"/>
                    <a:pt x="0" y="560824"/>
                  </a:cubicBezTo>
                  <a:lnTo>
                    <a:pt x="0" y="22407"/>
                  </a:lnTo>
                  <a:cubicBezTo>
                    <a:pt x="0" y="16464"/>
                    <a:pt x="2361" y="10765"/>
                    <a:pt x="6563" y="6563"/>
                  </a:cubicBezTo>
                  <a:cubicBezTo>
                    <a:pt x="10765" y="2361"/>
                    <a:pt x="16464" y="0"/>
                    <a:pt x="224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911987" cy="640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47639" y="2681140"/>
            <a:ext cx="8653092" cy="47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spc="331">
                <a:solidFill>
                  <a:srgbClr val="AA240D"/>
                </a:solidFill>
                <a:latin typeface="Poppins"/>
                <a:ea typeface="Poppins"/>
                <a:cs typeface="Poppins"/>
                <a:sym typeface="Poppins"/>
              </a:rPr>
              <a:t>ORCHESTRATION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99876" y="960338"/>
            <a:ext cx="15359424" cy="98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80"/>
              </a:lnSpc>
              <a:spcBef>
                <a:spcPct val="0"/>
              </a:spcBef>
            </a:pPr>
            <a:r>
              <a:rPr lang="en-US" b="true" sz="7166" spc="-3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7639" y="3105163"/>
            <a:ext cx="10509074" cy="81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29"/>
              </a:lnSpc>
              <a:spcBef>
                <a:spcPct val="0"/>
              </a:spcBef>
            </a:pPr>
            <a:r>
              <a:rPr lang="en-US" sz="3899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Apache Airflow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202851" y="4847459"/>
            <a:ext cx="11056449" cy="2214455"/>
            <a:chOff x="0" y="0"/>
            <a:chExt cx="2911987" cy="5832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11987" cy="583231"/>
            </a:xfrm>
            <a:custGeom>
              <a:avLst/>
              <a:gdLst/>
              <a:ahLst/>
              <a:cxnLst/>
              <a:rect r="r" b="b" t="t" l="l"/>
              <a:pathLst>
                <a:path h="583231" w="2911987">
                  <a:moveTo>
                    <a:pt x="22407" y="0"/>
                  </a:moveTo>
                  <a:lnTo>
                    <a:pt x="2889580" y="0"/>
                  </a:lnTo>
                  <a:cubicBezTo>
                    <a:pt x="2901955" y="0"/>
                    <a:pt x="2911987" y="10032"/>
                    <a:pt x="2911987" y="22407"/>
                  </a:cubicBezTo>
                  <a:lnTo>
                    <a:pt x="2911987" y="560824"/>
                  </a:lnTo>
                  <a:cubicBezTo>
                    <a:pt x="2911987" y="566767"/>
                    <a:pt x="2909626" y="572466"/>
                    <a:pt x="2905424" y="576668"/>
                  </a:cubicBezTo>
                  <a:cubicBezTo>
                    <a:pt x="2901222" y="580870"/>
                    <a:pt x="2895522" y="583231"/>
                    <a:pt x="2889580" y="583231"/>
                  </a:cubicBezTo>
                  <a:lnTo>
                    <a:pt x="22407" y="583231"/>
                  </a:lnTo>
                  <a:cubicBezTo>
                    <a:pt x="16464" y="583231"/>
                    <a:pt x="10765" y="580870"/>
                    <a:pt x="6563" y="576668"/>
                  </a:cubicBezTo>
                  <a:cubicBezTo>
                    <a:pt x="2361" y="572466"/>
                    <a:pt x="0" y="566767"/>
                    <a:pt x="0" y="560824"/>
                  </a:cubicBezTo>
                  <a:lnTo>
                    <a:pt x="0" y="22407"/>
                  </a:lnTo>
                  <a:cubicBezTo>
                    <a:pt x="0" y="16464"/>
                    <a:pt x="2361" y="10765"/>
                    <a:pt x="6563" y="6563"/>
                  </a:cubicBezTo>
                  <a:cubicBezTo>
                    <a:pt x="10765" y="2361"/>
                    <a:pt x="16464" y="0"/>
                    <a:pt x="224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911987" cy="640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22336" y="7429195"/>
            <a:ext cx="11056449" cy="2214455"/>
            <a:chOff x="0" y="0"/>
            <a:chExt cx="2911987" cy="5832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11987" cy="583231"/>
            </a:xfrm>
            <a:custGeom>
              <a:avLst/>
              <a:gdLst/>
              <a:ahLst/>
              <a:cxnLst/>
              <a:rect r="r" b="b" t="t" l="l"/>
              <a:pathLst>
                <a:path h="583231" w="2911987">
                  <a:moveTo>
                    <a:pt x="22407" y="0"/>
                  </a:moveTo>
                  <a:lnTo>
                    <a:pt x="2889580" y="0"/>
                  </a:lnTo>
                  <a:cubicBezTo>
                    <a:pt x="2901955" y="0"/>
                    <a:pt x="2911987" y="10032"/>
                    <a:pt x="2911987" y="22407"/>
                  </a:cubicBezTo>
                  <a:lnTo>
                    <a:pt x="2911987" y="560824"/>
                  </a:lnTo>
                  <a:cubicBezTo>
                    <a:pt x="2911987" y="566767"/>
                    <a:pt x="2909626" y="572466"/>
                    <a:pt x="2905424" y="576668"/>
                  </a:cubicBezTo>
                  <a:cubicBezTo>
                    <a:pt x="2901222" y="580870"/>
                    <a:pt x="2895522" y="583231"/>
                    <a:pt x="2889580" y="583231"/>
                  </a:cubicBezTo>
                  <a:lnTo>
                    <a:pt x="22407" y="583231"/>
                  </a:lnTo>
                  <a:cubicBezTo>
                    <a:pt x="16464" y="583231"/>
                    <a:pt x="10765" y="580870"/>
                    <a:pt x="6563" y="576668"/>
                  </a:cubicBezTo>
                  <a:cubicBezTo>
                    <a:pt x="2361" y="572466"/>
                    <a:pt x="0" y="566767"/>
                    <a:pt x="0" y="560824"/>
                  </a:cubicBezTo>
                  <a:lnTo>
                    <a:pt x="0" y="22407"/>
                  </a:lnTo>
                  <a:cubicBezTo>
                    <a:pt x="0" y="16464"/>
                    <a:pt x="2361" y="10765"/>
                    <a:pt x="6563" y="6563"/>
                  </a:cubicBezTo>
                  <a:cubicBezTo>
                    <a:pt x="10765" y="2361"/>
                    <a:pt x="16464" y="0"/>
                    <a:pt x="224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911987" cy="640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934966" y="5301330"/>
            <a:ext cx="8653092" cy="47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spc="331">
                <a:solidFill>
                  <a:srgbClr val="AA240D"/>
                </a:solidFill>
                <a:latin typeface="Poppins"/>
                <a:ea typeface="Poppins"/>
                <a:cs typeface="Poppins"/>
                <a:sym typeface="Poppins"/>
              </a:rPr>
              <a:t>STORAGE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74774" y="5726087"/>
            <a:ext cx="10509074" cy="81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29"/>
              </a:lnSpc>
              <a:spcBef>
                <a:spcPct val="0"/>
              </a:spcBef>
            </a:pPr>
            <a:r>
              <a:rPr lang="en-US" sz="3899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DuckDB &amp; Parquet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53571" y="7909640"/>
            <a:ext cx="8653092" cy="47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spc="331">
                <a:solidFill>
                  <a:srgbClr val="AA240D"/>
                </a:solidFill>
                <a:latin typeface="Poppins"/>
                <a:ea typeface="Poppins"/>
                <a:cs typeface="Poppins"/>
                <a:sym typeface="Poppins"/>
              </a:rPr>
              <a:t>TRANSFORMATION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53571" y="8439149"/>
            <a:ext cx="10509074" cy="81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29"/>
              </a:lnSpc>
              <a:spcBef>
                <a:spcPct val="0"/>
              </a:spcBef>
            </a:pPr>
            <a:r>
              <a:rPr lang="en-US" sz="3899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dbt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4017393"/>
            <a:ext cx="18288000" cy="1703070"/>
          </a:xfrm>
          <a:custGeom>
            <a:avLst/>
            <a:gdLst/>
            <a:ahLst/>
            <a:cxnLst/>
            <a:rect r="r" b="b" t="t" l="l"/>
            <a:pathLst>
              <a:path h="1703070" w="18288000">
                <a:moveTo>
                  <a:pt x="0" y="0"/>
                </a:moveTo>
                <a:lnTo>
                  <a:pt x="18288000" y="0"/>
                </a:lnTo>
                <a:lnTo>
                  <a:pt x="18288000" y="1703070"/>
                </a:lnTo>
                <a:lnTo>
                  <a:pt x="0" y="1703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18676" y="1407049"/>
            <a:ext cx="14009416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6000" spc="-30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 EXECUTION (AIRFLOW DAG)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23666" y="2477555"/>
            <a:ext cx="5040667" cy="3991649"/>
            <a:chOff x="0" y="0"/>
            <a:chExt cx="1327583" cy="1051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7583" cy="1051298"/>
            </a:xfrm>
            <a:custGeom>
              <a:avLst/>
              <a:gdLst/>
              <a:ahLst/>
              <a:cxnLst/>
              <a:rect r="r" b="b" t="t" l="l"/>
              <a:pathLst>
                <a:path h="1051298" w="1327583">
                  <a:moveTo>
                    <a:pt x="93689" y="0"/>
                  </a:moveTo>
                  <a:lnTo>
                    <a:pt x="1233894" y="0"/>
                  </a:lnTo>
                  <a:cubicBezTo>
                    <a:pt x="1285637" y="0"/>
                    <a:pt x="1327583" y="41946"/>
                    <a:pt x="1327583" y="93689"/>
                  </a:cubicBezTo>
                  <a:lnTo>
                    <a:pt x="1327583" y="957609"/>
                  </a:lnTo>
                  <a:cubicBezTo>
                    <a:pt x="1327583" y="982457"/>
                    <a:pt x="1317712" y="1006287"/>
                    <a:pt x="1300142" y="1023857"/>
                  </a:cubicBezTo>
                  <a:cubicBezTo>
                    <a:pt x="1282572" y="1041428"/>
                    <a:pt x="1258742" y="1051298"/>
                    <a:pt x="1233894" y="1051298"/>
                  </a:cubicBezTo>
                  <a:lnTo>
                    <a:pt x="93689" y="1051298"/>
                  </a:lnTo>
                  <a:cubicBezTo>
                    <a:pt x="41946" y="1051298"/>
                    <a:pt x="0" y="1009352"/>
                    <a:pt x="0" y="957609"/>
                  </a:cubicBezTo>
                  <a:lnTo>
                    <a:pt x="0" y="93689"/>
                  </a:lnTo>
                  <a:cubicBezTo>
                    <a:pt x="0" y="68841"/>
                    <a:pt x="9871" y="45011"/>
                    <a:pt x="27441" y="27441"/>
                  </a:cubicBezTo>
                  <a:cubicBezTo>
                    <a:pt x="45011" y="9871"/>
                    <a:pt x="68841" y="0"/>
                    <a:pt x="936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327583" cy="1108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92712" y="3259940"/>
            <a:ext cx="5040667" cy="3662294"/>
            <a:chOff x="0" y="0"/>
            <a:chExt cx="1327583" cy="9645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7583" cy="964555"/>
            </a:xfrm>
            <a:custGeom>
              <a:avLst/>
              <a:gdLst/>
              <a:ahLst/>
              <a:cxnLst/>
              <a:rect r="r" b="b" t="t" l="l"/>
              <a:pathLst>
                <a:path h="964555" w="1327583">
                  <a:moveTo>
                    <a:pt x="93689" y="0"/>
                  </a:moveTo>
                  <a:lnTo>
                    <a:pt x="1233894" y="0"/>
                  </a:lnTo>
                  <a:cubicBezTo>
                    <a:pt x="1285637" y="0"/>
                    <a:pt x="1327583" y="41946"/>
                    <a:pt x="1327583" y="93689"/>
                  </a:cubicBezTo>
                  <a:lnTo>
                    <a:pt x="1327583" y="870865"/>
                  </a:lnTo>
                  <a:cubicBezTo>
                    <a:pt x="1327583" y="895713"/>
                    <a:pt x="1317712" y="919544"/>
                    <a:pt x="1300142" y="937114"/>
                  </a:cubicBezTo>
                  <a:cubicBezTo>
                    <a:pt x="1282572" y="954684"/>
                    <a:pt x="1258742" y="964555"/>
                    <a:pt x="1233894" y="964555"/>
                  </a:cubicBezTo>
                  <a:lnTo>
                    <a:pt x="93689" y="964555"/>
                  </a:lnTo>
                  <a:cubicBezTo>
                    <a:pt x="68841" y="964555"/>
                    <a:pt x="45011" y="954684"/>
                    <a:pt x="27441" y="937114"/>
                  </a:cubicBezTo>
                  <a:cubicBezTo>
                    <a:pt x="9871" y="919544"/>
                    <a:pt x="0" y="895713"/>
                    <a:pt x="0" y="870865"/>
                  </a:cubicBezTo>
                  <a:lnTo>
                    <a:pt x="0" y="93689"/>
                  </a:lnTo>
                  <a:cubicBezTo>
                    <a:pt x="0" y="68841"/>
                    <a:pt x="9871" y="45011"/>
                    <a:pt x="27441" y="27441"/>
                  </a:cubicBezTo>
                  <a:cubicBezTo>
                    <a:pt x="45011" y="9871"/>
                    <a:pt x="68841" y="0"/>
                    <a:pt x="936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327583" cy="1021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92012" y="3580538"/>
            <a:ext cx="4073645" cy="36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AA240D"/>
                </a:solidFill>
                <a:latin typeface="Poppins"/>
                <a:ea typeface="Poppins"/>
                <a:cs typeface="Poppins"/>
                <a:sym typeface="Poppins"/>
              </a:rPr>
              <a:t>THE DIMENSION TABLES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73114" y="1265975"/>
            <a:ext cx="14009416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6000" spc="-30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STAR SCHEMA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7342" y="4051441"/>
            <a:ext cx="4471407" cy="256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ovid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cr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iv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conte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sed fo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ilte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ring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nd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grou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pi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ng.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mp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m_per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on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ac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tor/d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ect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deta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), d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m_y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ear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(dec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dim_g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086539" y="2905371"/>
            <a:ext cx="4114921" cy="73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AA240D"/>
                </a:solidFill>
                <a:latin typeface="Poppins"/>
                <a:ea typeface="Poppins"/>
                <a:cs typeface="Poppins"/>
                <a:sym typeface="Poppins"/>
              </a:rPr>
              <a:t>FACT TABLE  (FCT_TITLE_RATINGS)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42119" y="3868050"/>
            <a:ext cx="4471407" cy="256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ri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n: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1 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Fact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Isol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ion: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imite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exc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lus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ive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y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c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bl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quan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ti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ta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ti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(e.g.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a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erag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e_r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ing,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n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um_v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tes)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324580" y="4566875"/>
            <a:ext cx="4285139" cy="1096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DOCUMENTARIES, SHORT FILMS, AND EXPERIMENTAL CINEMA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54859" y="3247891"/>
            <a:ext cx="5040667" cy="3662294"/>
            <a:chOff x="0" y="0"/>
            <a:chExt cx="1327583" cy="9645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27583" cy="964555"/>
            </a:xfrm>
            <a:custGeom>
              <a:avLst/>
              <a:gdLst/>
              <a:ahLst/>
              <a:cxnLst/>
              <a:rect r="r" b="b" t="t" l="l"/>
              <a:pathLst>
                <a:path h="964555" w="1327583">
                  <a:moveTo>
                    <a:pt x="93689" y="0"/>
                  </a:moveTo>
                  <a:lnTo>
                    <a:pt x="1233894" y="0"/>
                  </a:lnTo>
                  <a:cubicBezTo>
                    <a:pt x="1285637" y="0"/>
                    <a:pt x="1327583" y="41946"/>
                    <a:pt x="1327583" y="93689"/>
                  </a:cubicBezTo>
                  <a:lnTo>
                    <a:pt x="1327583" y="870865"/>
                  </a:lnTo>
                  <a:cubicBezTo>
                    <a:pt x="1327583" y="895713"/>
                    <a:pt x="1317712" y="919544"/>
                    <a:pt x="1300142" y="937114"/>
                  </a:cubicBezTo>
                  <a:cubicBezTo>
                    <a:pt x="1282572" y="954684"/>
                    <a:pt x="1258742" y="964555"/>
                    <a:pt x="1233894" y="964555"/>
                  </a:cubicBezTo>
                  <a:lnTo>
                    <a:pt x="93689" y="964555"/>
                  </a:lnTo>
                  <a:cubicBezTo>
                    <a:pt x="68841" y="964555"/>
                    <a:pt x="45011" y="954684"/>
                    <a:pt x="27441" y="937114"/>
                  </a:cubicBezTo>
                  <a:cubicBezTo>
                    <a:pt x="9871" y="919544"/>
                    <a:pt x="0" y="895713"/>
                    <a:pt x="0" y="870865"/>
                  </a:cubicBezTo>
                  <a:lnTo>
                    <a:pt x="0" y="93689"/>
                  </a:lnTo>
                  <a:cubicBezTo>
                    <a:pt x="0" y="68841"/>
                    <a:pt x="9871" y="45011"/>
                    <a:pt x="27441" y="27441"/>
                  </a:cubicBezTo>
                  <a:cubicBezTo>
                    <a:pt x="45011" y="9871"/>
                    <a:pt x="68841" y="0"/>
                    <a:pt x="936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327583" cy="1021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521584" y="3554525"/>
            <a:ext cx="4240536" cy="729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AA240D"/>
                </a:solidFill>
                <a:latin typeface="Poppins"/>
                <a:ea typeface="Poppins"/>
                <a:cs typeface="Poppins"/>
                <a:sym typeface="Poppins"/>
              </a:rPr>
              <a:t>RESOLVING MANY-TO-MANY RELATIONSHIPS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24580" y="4349554"/>
            <a:ext cx="4471407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Implemented B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rid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Table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(bridge_title_genres, bridge_ti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tl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e_crew) to 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af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ly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lin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 single title to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mul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tipl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enres or actors.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948749" y="6870775"/>
            <a:ext cx="6334672" cy="2853033"/>
            <a:chOff x="0" y="0"/>
            <a:chExt cx="1668391" cy="7514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68391" cy="751416"/>
            </a:xfrm>
            <a:custGeom>
              <a:avLst/>
              <a:gdLst/>
              <a:ahLst/>
              <a:cxnLst/>
              <a:rect r="r" b="b" t="t" l="l"/>
              <a:pathLst>
                <a:path h="751416" w="1668391">
                  <a:moveTo>
                    <a:pt x="74551" y="0"/>
                  </a:moveTo>
                  <a:lnTo>
                    <a:pt x="1593840" y="0"/>
                  </a:lnTo>
                  <a:cubicBezTo>
                    <a:pt x="1635013" y="0"/>
                    <a:pt x="1668391" y="33378"/>
                    <a:pt x="1668391" y="74551"/>
                  </a:cubicBezTo>
                  <a:lnTo>
                    <a:pt x="1668391" y="676865"/>
                  </a:lnTo>
                  <a:cubicBezTo>
                    <a:pt x="1668391" y="718038"/>
                    <a:pt x="1635013" y="751416"/>
                    <a:pt x="1593840" y="751416"/>
                  </a:cubicBezTo>
                  <a:lnTo>
                    <a:pt x="74551" y="751416"/>
                  </a:lnTo>
                  <a:cubicBezTo>
                    <a:pt x="33378" y="751416"/>
                    <a:pt x="0" y="718038"/>
                    <a:pt x="0" y="676865"/>
                  </a:cubicBezTo>
                  <a:lnTo>
                    <a:pt x="0" y="74551"/>
                  </a:lnTo>
                  <a:cubicBezTo>
                    <a:pt x="0" y="33378"/>
                    <a:pt x="33378" y="0"/>
                    <a:pt x="745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668391" cy="808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360836" y="7125609"/>
            <a:ext cx="4240536" cy="729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AA240D"/>
                </a:solidFill>
                <a:latin typeface="Poppins"/>
                <a:ea typeface="Poppins"/>
                <a:cs typeface="Poppins"/>
                <a:sym typeface="Poppins"/>
              </a:rPr>
              <a:t>SLOWLY CHANGING DIMENSIONS (SCD TYPE 2)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233379" y="7987982"/>
            <a:ext cx="4471407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dim_title_snapshot utilizes dbt snapshots to track historical changes in metadata.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63" y="2478915"/>
            <a:ext cx="18288000" cy="6480810"/>
          </a:xfrm>
          <a:custGeom>
            <a:avLst/>
            <a:gdLst/>
            <a:ahLst/>
            <a:cxnLst/>
            <a:rect r="r" b="b" t="t" l="l"/>
            <a:pathLst>
              <a:path h="6480810" w="18288000">
                <a:moveTo>
                  <a:pt x="0" y="0"/>
                </a:moveTo>
                <a:lnTo>
                  <a:pt x="18288000" y="0"/>
                </a:lnTo>
                <a:lnTo>
                  <a:pt x="18288000" y="6480810"/>
                </a:lnTo>
                <a:lnTo>
                  <a:pt x="0" y="64808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54855" y="1264492"/>
            <a:ext cx="14009416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6000" spc="-30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STAR SCHEMA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583885" y="2032927"/>
            <a:ext cx="6675415" cy="4238762"/>
            <a:chOff x="0" y="0"/>
            <a:chExt cx="1023528" cy="6499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3528" cy="649921"/>
            </a:xfrm>
            <a:custGeom>
              <a:avLst/>
              <a:gdLst/>
              <a:ahLst/>
              <a:cxnLst/>
              <a:rect r="r" b="b" t="t" l="l"/>
              <a:pathLst>
                <a:path h="649921" w="1023528">
                  <a:moveTo>
                    <a:pt x="26675" y="0"/>
                  </a:moveTo>
                  <a:lnTo>
                    <a:pt x="996853" y="0"/>
                  </a:lnTo>
                  <a:cubicBezTo>
                    <a:pt x="1003928" y="0"/>
                    <a:pt x="1010712" y="2810"/>
                    <a:pt x="1015715" y="7813"/>
                  </a:cubicBezTo>
                  <a:cubicBezTo>
                    <a:pt x="1020717" y="12815"/>
                    <a:pt x="1023528" y="19600"/>
                    <a:pt x="1023528" y="26675"/>
                  </a:cubicBezTo>
                  <a:lnTo>
                    <a:pt x="1023528" y="623246"/>
                  </a:lnTo>
                  <a:cubicBezTo>
                    <a:pt x="1023528" y="630321"/>
                    <a:pt x="1020717" y="637105"/>
                    <a:pt x="1015715" y="642108"/>
                  </a:cubicBezTo>
                  <a:cubicBezTo>
                    <a:pt x="1010712" y="647110"/>
                    <a:pt x="1003928" y="649921"/>
                    <a:pt x="996853" y="649921"/>
                  </a:cubicBezTo>
                  <a:lnTo>
                    <a:pt x="26675" y="649921"/>
                  </a:lnTo>
                  <a:cubicBezTo>
                    <a:pt x="19600" y="649921"/>
                    <a:pt x="12815" y="647110"/>
                    <a:pt x="7813" y="642108"/>
                  </a:cubicBezTo>
                  <a:cubicBezTo>
                    <a:pt x="2810" y="637105"/>
                    <a:pt x="0" y="630321"/>
                    <a:pt x="0" y="623246"/>
                  </a:cubicBezTo>
                  <a:lnTo>
                    <a:pt x="0" y="26675"/>
                  </a:lnTo>
                  <a:cubicBezTo>
                    <a:pt x="0" y="19600"/>
                    <a:pt x="2810" y="12815"/>
                    <a:pt x="7813" y="7813"/>
                  </a:cubicBezTo>
                  <a:cubicBezTo>
                    <a:pt x="12815" y="2810"/>
                    <a:pt x="19600" y="0"/>
                    <a:pt x="2667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8187" r="0" b="-68187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762559" y="5323653"/>
            <a:ext cx="7202979" cy="3495724"/>
            <a:chOff x="0" y="0"/>
            <a:chExt cx="1897081" cy="9206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7081" cy="920685"/>
            </a:xfrm>
            <a:custGeom>
              <a:avLst/>
              <a:gdLst/>
              <a:ahLst/>
              <a:cxnLst/>
              <a:rect r="r" b="b" t="t" l="l"/>
              <a:pathLst>
                <a:path h="920685" w="1897081">
                  <a:moveTo>
                    <a:pt x="65564" y="0"/>
                  </a:moveTo>
                  <a:lnTo>
                    <a:pt x="1831517" y="0"/>
                  </a:lnTo>
                  <a:cubicBezTo>
                    <a:pt x="1867727" y="0"/>
                    <a:pt x="1897081" y="29354"/>
                    <a:pt x="1897081" y="65564"/>
                  </a:cubicBezTo>
                  <a:lnTo>
                    <a:pt x="1897081" y="855120"/>
                  </a:lnTo>
                  <a:cubicBezTo>
                    <a:pt x="1897081" y="891330"/>
                    <a:pt x="1867727" y="920685"/>
                    <a:pt x="1831517" y="920685"/>
                  </a:cubicBezTo>
                  <a:lnTo>
                    <a:pt x="65564" y="920685"/>
                  </a:lnTo>
                  <a:cubicBezTo>
                    <a:pt x="29354" y="920685"/>
                    <a:pt x="0" y="891330"/>
                    <a:pt x="0" y="855120"/>
                  </a:cubicBezTo>
                  <a:lnTo>
                    <a:pt x="0" y="65564"/>
                  </a:lnTo>
                  <a:cubicBezTo>
                    <a:pt x="0" y="29354"/>
                    <a:pt x="29354" y="0"/>
                    <a:pt x="655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897081" cy="977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7707164">
            <a:off x="690351" y="-2189935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7" y="0"/>
                </a:lnTo>
                <a:lnTo>
                  <a:pt x="1454067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7707164">
            <a:off x="16294306" y="6543150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7" y="0"/>
                </a:lnTo>
                <a:lnTo>
                  <a:pt x="1454067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1646567" y="5502269"/>
            <a:ext cx="218694" cy="21869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19305" y="5871964"/>
            <a:ext cx="218694" cy="21869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15442" y="2770206"/>
            <a:ext cx="8565708" cy="193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68"/>
              </a:lnSpc>
              <a:spcBef>
                <a:spcPct val="0"/>
              </a:spcBef>
            </a:pPr>
            <a:r>
              <a:rPr lang="en-US" b="true" sz="7466" spc="-38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TRANSFORMATION &amp; TESTING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7384" y="6119289"/>
            <a:ext cx="6360654" cy="346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6" indent="-291468" lvl="1">
              <a:lnSpc>
                <a:spcPts val="459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Staging: Cl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ans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ty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an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hand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\N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n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ull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582936" indent="-291468" lvl="1">
              <a:lnSpc>
                <a:spcPts val="459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ter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di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sh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ap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a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rr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an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mpl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tr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uc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tu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s.</a:t>
            </a:r>
          </a:p>
          <a:p>
            <a:pPr algn="l" marL="582936" indent="-291468" lvl="1">
              <a:lnSpc>
                <a:spcPts val="459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ts: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Fin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lize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the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S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tar 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Sch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7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a.</a:t>
            </a:r>
          </a:p>
          <a:p>
            <a:pPr algn="l" marL="0" indent="0" lvl="0">
              <a:lnSpc>
                <a:spcPts val="459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162410" y="5263614"/>
            <a:ext cx="3803822" cy="60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348" spc="4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ELT APPROACH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79240" y="6434581"/>
            <a:ext cx="6360654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Aut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om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ated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check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or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im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ary/f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eig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ys,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un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quenes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nd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cus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sine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ru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(e.g.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ings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tr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ic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ly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et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ween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0.0 a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 10.0)</a:t>
            </a:r>
            <a:r>
              <a:rPr lang="en-US" sz="2000" strike="noStrike" u="none">
                <a:solidFill>
                  <a:srgbClr val="000000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46374" y="5768345"/>
            <a:ext cx="5027843" cy="36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INTEGRATED TESTING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7707164">
            <a:off x="690351" y="-2189935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7" y="0"/>
                </a:lnTo>
                <a:lnTo>
                  <a:pt x="1454067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707164">
            <a:off x="16294306" y="6543150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7" y="0"/>
                </a:lnTo>
                <a:lnTo>
                  <a:pt x="1454067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07825" y="713080"/>
            <a:ext cx="17461329" cy="8948931"/>
          </a:xfrm>
          <a:custGeom>
            <a:avLst/>
            <a:gdLst/>
            <a:ahLst/>
            <a:cxnLst/>
            <a:rect r="r" b="b" t="t" l="l"/>
            <a:pathLst>
              <a:path h="8948931" w="17461329">
                <a:moveTo>
                  <a:pt x="0" y="0"/>
                </a:moveTo>
                <a:lnTo>
                  <a:pt x="17461329" y="0"/>
                </a:lnTo>
                <a:lnTo>
                  <a:pt x="17461329" y="8948931"/>
                </a:lnTo>
                <a:lnTo>
                  <a:pt x="0" y="89489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70971" y="3814791"/>
            <a:ext cx="11746058" cy="335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06"/>
              </a:lnSpc>
              <a:spcBef>
                <a:spcPct val="0"/>
              </a:spcBef>
            </a:pPr>
            <a:r>
              <a:rPr lang="en-US" b="true" sz="12819" spc="-65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DELIVERABLE QUESTIONS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86087" y="1893811"/>
            <a:ext cx="4100040" cy="7306639"/>
          </a:xfrm>
          <a:custGeom>
            <a:avLst/>
            <a:gdLst/>
            <a:ahLst/>
            <a:cxnLst/>
            <a:rect r="r" b="b" t="t" l="l"/>
            <a:pathLst>
              <a:path h="7306639" w="4100040">
                <a:moveTo>
                  <a:pt x="0" y="0"/>
                </a:moveTo>
                <a:lnTo>
                  <a:pt x="4100040" y="0"/>
                </a:lnTo>
                <a:lnTo>
                  <a:pt x="4100040" y="7306639"/>
                </a:lnTo>
                <a:lnTo>
                  <a:pt x="0" y="7306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9941" y="4450520"/>
            <a:ext cx="10694949" cy="233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4"/>
              </a:lnSpc>
            </a:pPr>
            <a:r>
              <a:rPr lang="en-US" b="true" sz="4651" spc="-2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WHO ARE THE TOP 10 DIRECTORS BY AVERAGE RATING, RESTRICTED TO THOSE WITH 5+ TITLES AND 1,000+</a:t>
            </a:r>
          </a:p>
          <a:p>
            <a:pPr algn="ctr" marL="0" indent="0" lvl="0">
              <a:lnSpc>
                <a:spcPts val="4464"/>
              </a:lnSpc>
              <a:spcBef>
                <a:spcPct val="0"/>
              </a:spcBef>
            </a:pPr>
            <a:r>
              <a:rPr lang="en-US" b="true" sz="4651" spc="-2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COMBINED VOTES?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89608" y="2307071"/>
            <a:ext cx="14108784" cy="5459431"/>
          </a:xfrm>
          <a:custGeom>
            <a:avLst/>
            <a:gdLst/>
            <a:ahLst/>
            <a:cxnLst/>
            <a:rect r="r" b="b" t="t" l="l"/>
            <a:pathLst>
              <a:path h="5459431" w="14108784">
                <a:moveTo>
                  <a:pt x="0" y="0"/>
                </a:moveTo>
                <a:lnTo>
                  <a:pt x="14108784" y="0"/>
                </a:lnTo>
                <a:lnTo>
                  <a:pt x="14108784" y="5459431"/>
                </a:lnTo>
                <a:lnTo>
                  <a:pt x="0" y="54594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20182" y="1127136"/>
            <a:ext cx="2892489" cy="3596697"/>
          </a:xfrm>
          <a:custGeom>
            <a:avLst/>
            <a:gdLst/>
            <a:ahLst/>
            <a:cxnLst/>
            <a:rect r="r" b="b" t="t" l="l"/>
            <a:pathLst>
              <a:path h="3596697" w="2892489">
                <a:moveTo>
                  <a:pt x="0" y="0"/>
                </a:moveTo>
                <a:lnTo>
                  <a:pt x="2892489" y="0"/>
                </a:lnTo>
                <a:lnTo>
                  <a:pt x="2892489" y="3596697"/>
                </a:lnTo>
                <a:lnTo>
                  <a:pt x="0" y="35966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51421" y="4958700"/>
            <a:ext cx="11485097" cy="4353653"/>
          </a:xfrm>
          <a:custGeom>
            <a:avLst/>
            <a:gdLst/>
            <a:ahLst/>
            <a:cxnLst/>
            <a:rect r="r" b="b" t="t" l="l"/>
            <a:pathLst>
              <a:path h="4353653" w="11485097">
                <a:moveTo>
                  <a:pt x="0" y="0"/>
                </a:moveTo>
                <a:lnTo>
                  <a:pt x="11485097" y="0"/>
                </a:lnTo>
                <a:lnTo>
                  <a:pt x="11485097" y="4353653"/>
                </a:lnTo>
                <a:lnTo>
                  <a:pt x="0" y="43536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20837" y="2868334"/>
            <a:ext cx="289248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spcBef>
                <a:spcPct val="0"/>
              </a:spcBef>
              <a:buAutoNum type="arabicPeriod" startAt="1"/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-1301991" y="2701012"/>
            <a:ext cx="1725030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spc="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CAT</a:t>
            </a:r>
            <a:r>
              <a:rPr lang="en-US" sz="2200" spc="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SANTAROSA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150390" y="2255984"/>
            <a:ext cx="11987219" cy="5775033"/>
          </a:xfrm>
          <a:custGeom>
            <a:avLst/>
            <a:gdLst/>
            <a:ahLst/>
            <a:cxnLst/>
            <a:rect r="r" b="b" t="t" l="l"/>
            <a:pathLst>
              <a:path h="5775033" w="11987219">
                <a:moveTo>
                  <a:pt x="0" y="0"/>
                </a:moveTo>
                <a:lnTo>
                  <a:pt x="11987220" y="0"/>
                </a:lnTo>
                <a:lnTo>
                  <a:pt x="11987220" y="5775032"/>
                </a:lnTo>
                <a:lnTo>
                  <a:pt x="0" y="57750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02481" y="4609189"/>
            <a:ext cx="16477996" cy="92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3"/>
              </a:lnSpc>
              <a:spcBef>
                <a:spcPct val="0"/>
              </a:spcBef>
            </a:pPr>
            <a:r>
              <a:rPr lang="en-US" sz="5145" spc="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ATTEMPT 2: RAISE THE VOTE COUNT TO 50K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90674" y="2183479"/>
            <a:ext cx="12106653" cy="5920042"/>
          </a:xfrm>
          <a:custGeom>
            <a:avLst/>
            <a:gdLst/>
            <a:ahLst/>
            <a:cxnLst/>
            <a:rect r="r" b="b" t="t" l="l"/>
            <a:pathLst>
              <a:path h="5920042" w="12106653">
                <a:moveTo>
                  <a:pt x="0" y="0"/>
                </a:moveTo>
                <a:lnTo>
                  <a:pt x="12106652" y="0"/>
                </a:lnTo>
                <a:lnTo>
                  <a:pt x="12106652" y="5920042"/>
                </a:lnTo>
                <a:lnTo>
                  <a:pt x="0" y="59200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25301" y="1039007"/>
            <a:ext cx="3772955" cy="3772955"/>
          </a:xfrm>
          <a:custGeom>
            <a:avLst/>
            <a:gdLst/>
            <a:ahLst/>
            <a:cxnLst/>
            <a:rect r="r" b="b" t="t" l="l"/>
            <a:pathLst>
              <a:path h="3772955" w="3772955">
                <a:moveTo>
                  <a:pt x="0" y="0"/>
                </a:moveTo>
                <a:lnTo>
                  <a:pt x="3772955" y="0"/>
                </a:lnTo>
                <a:lnTo>
                  <a:pt x="3772955" y="3772955"/>
                </a:lnTo>
                <a:lnTo>
                  <a:pt x="0" y="37729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25984" y="4985817"/>
            <a:ext cx="11433978" cy="4272483"/>
          </a:xfrm>
          <a:custGeom>
            <a:avLst/>
            <a:gdLst/>
            <a:ahLst/>
            <a:cxnLst/>
            <a:rect r="r" b="b" t="t" l="l"/>
            <a:pathLst>
              <a:path h="4272483" w="11433978">
                <a:moveTo>
                  <a:pt x="0" y="0"/>
                </a:moveTo>
                <a:lnTo>
                  <a:pt x="11433977" y="0"/>
                </a:lnTo>
                <a:lnTo>
                  <a:pt x="11433977" y="4272483"/>
                </a:lnTo>
                <a:lnTo>
                  <a:pt x="0" y="42724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89712" y="2701012"/>
            <a:ext cx="289248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spcBef>
                <a:spcPct val="0"/>
              </a:spcBef>
              <a:buAutoNum type="arabicPeriod" startAt="1"/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-772858" y="2533689"/>
            <a:ext cx="1725030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spc="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MEGUMI</a:t>
            </a:r>
            <a:r>
              <a:rPr lang="en-US" sz="2200" spc="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ISHITANI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60046" y="3925215"/>
            <a:ext cx="12367907" cy="2436570"/>
          </a:xfrm>
          <a:custGeom>
            <a:avLst/>
            <a:gdLst/>
            <a:ahLst/>
            <a:cxnLst/>
            <a:rect r="r" b="b" t="t" l="l"/>
            <a:pathLst>
              <a:path h="2436570" w="12367907">
                <a:moveTo>
                  <a:pt x="0" y="0"/>
                </a:moveTo>
                <a:lnTo>
                  <a:pt x="12367908" y="0"/>
                </a:lnTo>
                <a:lnTo>
                  <a:pt x="12367908" y="2436570"/>
                </a:lnTo>
                <a:lnTo>
                  <a:pt x="0" y="24365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85693" y="4609189"/>
            <a:ext cx="10911572" cy="92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3"/>
              </a:lnSpc>
              <a:spcBef>
                <a:spcPct val="0"/>
              </a:spcBef>
            </a:pPr>
            <a:r>
              <a:rPr lang="en-US" sz="5145" spc="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ATTEMPT 3: LIMIT TO MOVIES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22055" y="2869521"/>
            <a:ext cx="11843890" cy="4547958"/>
          </a:xfrm>
          <a:custGeom>
            <a:avLst/>
            <a:gdLst/>
            <a:ahLst/>
            <a:cxnLst/>
            <a:rect r="r" b="b" t="t" l="l"/>
            <a:pathLst>
              <a:path h="4547958" w="11843890">
                <a:moveTo>
                  <a:pt x="0" y="0"/>
                </a:moveTo>
                <a:lnTo>
                  <a:pt x="11843890" y="0"/>
                </a:lnTo>
                <a:lnTo>
                  <a:pt x="11843890" y="4547958"/>
                </a:lnTo>
                <a:lnTo>
                  <a:pt x="0" y="4547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55707" y="1574468"/>
            <a:ext cx="7130497" cy="7325994"/>
          </a:xfrm>
          <a:custGeom>
            <a:avLst/>
            <a:gdLst/>
            <a:ahLst/>
            <a:cxnLst/>
            <a:rect r="r" b="b" t="t" l="l"/>
            <a:pathLst>
              <a:path h="7325994" w="7130497">
                <a:moveTo>
                  <a:pt x="0" y="0"/>
                </a:moveTo>
                <a:lnTo>
                  <a:pt x="7130497" y="0"/>
                </a:lnTo>
                <a:lnTo>
                  <a:pt x="7130497" y="7325995"/>
                </a:lnTo>
                <a:lnTo>
                  <a:pt x="0" y="73259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55707" y="1574468"/>
            <a:ext cx="7130497" cy="7325994"/>
          </a:xfrm>
          <a:custGeom>
            <a:avLst/>
            <a:gdLst/>
            <a:ahLst/>
            <a:cxnLst/>
            <a:rect r="r" b="b" t="t" l="l"/>
            <a:pathLst>
              <a:path h="7325994" w="7130497">
                <a:moveTo>
                  <a:pt x="0" y="0"/>
                </a:moveTo>
                <a:lnTo>
                  <a:pt x="7130497" y="0"/>
                </a:lnTo>
                <a:lnTo>
                  <a:pt x="7130497" y="7325995"/>
                </a:lnTo>
                <a:lnTo>
                  <a:pt x="0" y="73259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26379" y="1832927"/>
            <a:ext cx="11035242" cy="6621145"/>
          </a:xfrm>
          <a:custGeom>
            <a:avLst/>
            <a:gdLst/>
            <a:ahLst/>
            <a:cxnLst/>
            <a:rect r="r" b="b" t="t" l="l"/>
            <a:pathLst>
              <a:path h="6621145" w="11035242">
                <a:moveTo>
                  <a:pt x="0" y="0"/>
                </a:moveTo>
                <a:lnTo>
                  <a:pt x="11035242" y="0"/>
                </a:lnTo>
                <a:lnTo>
                  <a:pt x="11035242" y="6621146"/>
                </a:lnTo>
                <a:lnTo>
                  <a:pt x="0" y="66211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26379" y="1832927"/>
            <a:ext cx="11035242" cy="6621145"/>
          </a:xfrm>
          <a:custGeom>
            <a:avLst/>
            <a:gdLst/>
            <a:ahLst/>
            <a:cxnLst/>
            <a:rect r="r" b="b" t="t" l="l"/>
            <a:pathLst>
              <a:path h="6621145" w="11035242">
                <a:moveTo>
                  <a:pt x="0" y="0"/>
                </a:moveTo>
                <a:lnTo>
                  <a:pt x="11035242" y="0"/>
                </a:lnTo>
                <a:lnTo>
                  <a:pt x="11035242" y="6621146"/>
                </a:lnTo>
                <a:lnTo>
                  <a:pt x="0" y="66211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70597" y="2410387"/>
            <a:ext cx="5015103" cy="6680117"/>
          </a:xfrm>
          <a:custGeom>
            <a:avLst/>
            <a:gdLst/>
            <a:ahLst/>
            <a:cxnLst/>
            <a:rect r="r" b="b" t="t" l="l"/>
            <a:pathLst>
              <a:path h="6680117" w="5015103">
                <a:moveTo>
                  <a:pt x="0" y="0"/>
                </a:moveTo>
                <a:lnTo>
                  <a:pt x="5015103" y="0"/>
                </a:lnTo>
                <a:lnTo>
                  <a:pt x="5015103" y="6680117"/>
                </a:lnTo>
                <a:lnTo>
                  <a:pt x="0" y="66801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413247"/>
            <a:ext cx="10694949" cy="176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64"/>
              </a:lnSpc>
              <a:spcBef>
                <a:spcPct val="0"/>
              </a:spcBef>
            </a:pPr>
            <a:r>
              <a:rPr lang="en-US" b="true" sz="4651" spc="-2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HAS THE AVERAGE MOVIE RUNTIME CHANGED BY DECADE, AND DOES RUNTIME CORRELATE WITH RATING?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80571" y="1913645"/>
            <a:ext cx="11726858" cy="6459710"/>
          </a:xfrm>
          <a:custGeom>
            <a:avLst/>
            <a:gdLst/>
            <a:ahLst/>
            <a:cxnLst/>
            <a:rect r="r" b="b" t="t" l="l"/>
            <a:pathLst>
              <a:path h="6459710" w="11726858">
                <a:moveTo>
                  <a:pt x="0" y="0"/>
                </a:moveTo>
                <a:lnTo>
                  <a:pt x="11726858" y="0"/>
                </a:lnTo>
                <a:lnTo>
                  <a:pt x="11726858" y="6459710"/>
                </a:lnTo>
                <a:lnTo>
                  <a:pt x="0" y="64597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01885" y="1872442"/>
            <a:ext cx="13084230" cy="6542115"/>
          </a:xfrm>
          <a:custGeom>
            <a:avLst/>
            <a:gdLst/>
            <a:ahLst/>
            <a:cxnLst/>
            <a:rect r="r" b="b" t="t" l="l"/>
            <a:pathLst>
              <a:path h="6542115" w="13084230">
                <a:moveTo>
                  <a:pt x="0" y="0"/>
                </a:moveTo>
                <a:lnTo>
                  <a:pt x="13084230" y="0"/>
                </a:lnTo>
                <a:lnTo>
                  <a:pt x="13084230" y="6542116"/>
                </a:lnTo>
                <a:lnTo>
                  <a:pt x="0" y="65421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45001" y="1330849"/>
            <a:ext cx="4834521" cy="7359879"/>
          </a:xfrm>
          <a:custGeom>
            <a:avLst/>
            <a:gdLst/>
            <a:ahLst/>
            <a:cxnLst/>
            <a:rect r="r" b="b" t="t" l="l"/>
            <a:pathLst>
              <a:path h="7359879" w="4834521">
                <a:moveTo>
                  <a:pt x="0" y="0"/>
                </a:moveTo>
                <a:lnTo>
                  <a:pt x="4834521" y="0"/>
                </a:lnTo>
                <a:lnTo>
                  <a:pt x="4834521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90254" y="1480745"/>
            <a:ext cx="4773725" cy="7209983"/>
          </a:xfrm>
          <a:custGeom>
            <a:avLst/>
            <a:gdLst/>
            <a:ahLst/>
            <a:cxnLst/>
            <a:rect r="r" b="b" t="t" l="l"/>
            <a:pathLst>
              <a:path h="7209983" w="4773725">
                <a:moveTo>
                  <a:pt x="0" y="0"/>
                </a:moveTo>
                <a:lnTo>
                  <a:pt x="4773724" y="0"/>
                </a:lnTo>
                <a:lnTo>
                  <a:pt x="4773724" y="7209983"/>
                </a:lnTo>
                <a:lnTo>
                  <a:pt x="0" y="72099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61" t="0" r="-1061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45001" y="8795053"/>
            <a:ext cx="483452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spc="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1962 - 3H 47 MIN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29457" y="8795053"/>
            <a:ext cx="483452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spc="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1972 - 2H 55 MIN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90423" y="777129"/>
            <a:ext cx="2743676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spc="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8.3 IMDB RATING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38600" y="804228"/>
            <a:ext cx="273954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spc="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9.2 IMDB RATING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2888380"/>
            <a:ext cx="8312803" cy="5537378"/>
          </a:xfrm>
          <a:custGeom>
            <a:avLst/>
            <a:gdLst/>
            <a:ahLst/>
            <a:cxnLst/>
            <a:rect r="r" b="b" t="t" l="l"/>
            <a:pathLst>
              <a:path h="5537378" w="8312803">
                <a:moveTo>
                  <a:pt x="0" y="0"/>
                </a:moveTo>
                <a:lnTo>
                  <a:pt x="8312803" y="0"/>
                </a:lnTo>
                <a:lnTo>
                  <a:pt x="8312803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7992" y="3649614"/>
            <a:ext cx="8313855" cy="466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3500" spc="-17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WHICH GENRES HAVE THE HIGHEST RATIO OF </a:t>
            </a: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  <a:r>
              <a:rPr lang="en-US" b="true" sz="3500" spc="-17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“OVERRATED” TITLES (LOW RATING, HIGH VOTE COUNT)?</a:t>
            </a: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  <a:r>
              <a:rPr lang="en-US" b="true" sz="3500" spc="-17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VERSUS</a:t>
            </a: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  <a:r>
              <a:rPr lang="en-US" b="true" sz="3500" spc="-17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“HIDDEN GEMS” (HIGH RATING, LOW VOTE COUNT)</a:t>
            </a:r>
          </a:p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58201" y="1784053"/>
            <a:ext cx="9571599" cy="7171613"/>
          </a:xfrm>
          <a:custGeom>
            <a:avLst/>
            <a:gdLst/>
            <a:ahLst/>
            <a:cxnLst/>
            <a:rect r="r" b="b" t="t" l="l"/>
            <a:pathLst>
              <a:path h="7171613" w="9571599">
                <a:moveTo>
                  <a:pt x="0" y="0"/>
                </a:moveTo>
                <a:lnTo>
                  <a:pt x="9571598" y="0"/>
                </a:lnTo>
                <a:lnTo>
                  <a:pt x="9571598" y="7171613"/>
                </a:lnTo>
                <a:lnTo>
                  <a:pt x="0" y="71716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6317946" y="-1572166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69897" y="6283833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8" y="0"/>
                </a:lnTo>
                <a:lnTo>
                  <a:pt x="1454068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61965" y="1754418"/>
            <a:ext cx="10164071" cy="6778165"/>
          </a:xfrm>
          <a:custGeom>
            <a:avLst/>
            <a:gdLst/>
            <a:ahLst/>
            <a:cxnLst/>
            <a:rect r="r" b="b" t="t" l="l"/>
            <a:pathLst>
              <a:path h="6778165" w="10164071">
                <a:moveTo>
                  <a:pt x="0" y="0"/>
                </a:moveTo>
                <a:lnTo>
                  <a:pt x="10164070" y="0"/>
                </a:lnTo>
                <a:lnTo>
                  <a:pt x="10164070" y="6778164"/>
                </a:lnTo>
                <a:lnTo>
                  <a:pt x="0" y="67781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846" y="571501"/>
            <a:ext cx="17250307" cy="9331930"/>
            <a:chOff x="0" y="0"/>
            <a:chExt cx="4543291" cy="2457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3291" cy="2457792"/>
            </a:xfrm>
            <a:custGeom>
              <a:avLst/>
              <a:gdLst/>
              <a:ahLst/>
              <a:cxnLst/>
              <a:rect r="r" b="b" t="t" l="l"/>
              <a:pathLst>
                <a:path h="2457792" w="4543291">
                  <a:moveTo>
                    <a:pt x="27377" y="0"/>
                  </a:moveTo>
                  <a:lnTo>
                    <a:pt x="4515914" y="0"/>
                  </a:lnTo>
                  <a:cubicBezTo>
                    <a:pt x="4523175" y="0"/>
                    <a:pt x="4530138" y="2884"/>
                    <a:pt x="4535272" y="8018"/>
                  </a:cubicBezTo>
                  <a:cubicBezTo>
                    <a:pt x="4540407" y="13153"/>
                    <a:pt x="4543291" y="20116"/>
                    <a:pt x="4543291" y="27377"/>
                  </a:cubicBezTo>
                  <a:lnTo>
                    <a:pt x="4543291" y="2430415"/>
                  </a:lnTo>
                  <a:cubicBezTo>
                    <a:pt x="4543291" y="2445535"/>
                    <a:pt x="4531034" y="2457792"/>
                    <a:pt x="4515914" y="2457792"/>
                  </a:cubicBezTo>
                  <a:lnTo>
                    <a:pt x="27377" y="2457792"/>
                  </a:lnTo>
                  <a:cubicBezTo>
                    <a:pt x="20116" y="2457792"/>
                    <a:pt x="13153" y="2454908"/>
                    <a:pt x="8018" y="2449774"/>
                  </a:cubicBezTo>
                  <a:cubicBezTo>
                    <a:pt x="2884" y="2444640"/>
                    <a:pt x="0" y="2437676"/>
                    <a:pt x="0" y="2430415"/>
                  </a:cubicBezTo>
                  <a:lnTo>
                    <a:pt x="0" y="27377"/>
                  </a:lnTo>
                  <a:cubicBezTo>
                    <a:pt x="0" y="20116"/>
                    <a:pt x="2884" y="13153"/>
                    <a:pt x="8018" y="8018"/>
                  </a:cubicBezTo>
                  <a:cubicBezTo>
                    <a:pt x="13153" y="2884"/>
                    <a:pt x="20116" y="0"/>
                    <a:pt x="27377" y="0"/>
                  </a:cubicBezTo>
                  <a:close/>
                </a:path>
              </a:pathLst>
            </a:custGeom>
            <a:solidFill>
              <a:srgbClr val="AA240D">
                <a:alpha val="8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43291" cy="251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7707164">
            <a:off x="16294306" y="6543150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7" y="0"/>
                </a:lnTo>
                <a:lnTo>
                  <a:pt x="1454067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7707164">
            <a:off x="690351" y="-2189935"/>
            <a:ext cx="1454067" cy="5806029"/>
          </a:xfrm>
          <a:custGeom>
            <a:avLst/>
            <a:gdLst/>
            <a:ahLst/>
            <a:cxnLst/>
            <a:rect r="r" b="b" t="t" l="l"/>
            <a:pathLst>
              <a:path h="5806029" w="1454067">
                <a:moveTo>
                  <a:pt x="0" y="0"/>
                </a:moveTo>
                <a:lnTo>
                  <a:pt x="1454067" y="0"/>
                </a:lnTo>
                <a:lnTo>
                  <a:pt x="1454067" y="5806029"/>
                </a:lnTo>
                <a:lnTo>
                  <a:pt x="0" y="5806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51608" y="2520527"/>
            <a:ext cx="11671641" cy="5729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41"/>
              </a:lnSpc>
            </a:pPr>
            <a:r>
              <a:rPr lang="en-US" b="true" sz="22022" spc="-11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DAHTORGtoT0</dc:identifier>
  <dcterms:modified xsi:type="dcterms:W3CDTF">2011-08-01T06:04:30Z</dcterms:modified>
  <cp:revision>1</cp:revision>
  <dc:title>Red Black Modern Bold Cinema Club Presentation</dc:title>
</cp:coreProperties>
</file>